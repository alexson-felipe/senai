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B50"/>
    <a:srgbClr val="1A1D29"/>
    <a:srgbClr val="37CA5A"/>
    <a:srgbClr val="313343"/>
    <a:srgbClr val="1A1B23"/>
    <a:srgbClr val="8C4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7/27/2021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1839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874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7/27/2021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754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7/27/2021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24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7/27/2021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35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7/27/2021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27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7/27/2021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235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7/27/2021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272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7/27/2021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531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7/27/2021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473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7/27/2021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212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37" r:id="rId6"/>
    <p:sldLayoutId id="2147483733" r:id="rId7"/>
    <p:sldLayoutId id="2147483734" r:id="rId8"/>
    <p:sldLayoutId id="2147483735" r:id="rId9"/>
    <p:sldLayoutId id="2147483736" r:id="rId10"/>
    <p:sldLayoutId id="214748373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">
            <a:extLst>
              <a:ext uri="{FF2B5EF4-FFF2-40B4-BE49-F238E27FC236}">
                <a16:creationId xmlns:a16="http://schemas.microsoft.com/office/drawing/2014/main" id="{D9E5362B-1AC1-4FEC-B83C-F91632F226F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12688" b="3042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EFB685D1-9AFC-46AF-B9CB-D81DE9B19273}"/>
              </a:ext>
            </a:extLst>
          </p:cNvPr>
          <p:cNvSpPr txBox="1">
            <a:spLocks/>
          </p:cNvSpPr>
          <p:nvPr/>
        </p:nvSpPr>
        <p:spPr>
          <a:xfrm>
            <a:off x="841249" y="941832"/>
            <a:ext cx="10506456" cy="2057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Aft>
                <a:spcPts val="600"/>
              </a:spcAft>
            </a:pPr>
            <a:r>
              <a:rPr lang="en-US" sz="5000"/>
              <a:t>SISTEMA DELIVERY</a:t>
            </a:r>
            <a:br>
              <a:rPr lang="en-US" sz="5000"/>
            </a:br>
            <a:r>
              <a:rPr lang="en-US" sz="5000"/>
              <a:t>Lógica de Programação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EEF75C28-E9D6-4798-A4BB-C996068D8F3B}"/>
              </a:ext>
            </a:extLst>
          </p:cNvPr>
          <p:cNvSpPr txBox="1">
            <a:spLocks/>
          </p:cNvSpPr>
          <p:nvPr/>
        </p:nvSpPr>
        <p:spPr>
          <a:xfrm>
            <a:off x="978184" y="5651645"/>
            <a:ext cx="10327495" cy="5290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lang="en-US" sz="2000" dirty="0"/>
              <a:t>Prof: Guilherme </a:t>
            </a:r>
            <a:r>
              <a:rPr lang="en-US" sz="2000" dirty="0" err="1"/>
              <a:t>Minatto</a:t>
            </a:r>
            <a:r>
              <a:rPr lang="en-US" sz="2000" dirty="0"/>
              <a:t>                                                                     Alexandre, Alexson e Ana</a:t>
            </a:r>
          </a:p>
          <a:p>
            <a:pPr algn="l">
              <a:lnSpc>
                <a:spcPct val="110000"/>
              </a:lnSpc>
            </a:pPr>
            <a:endParaRPr lang="en-US" sz="20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AE42BA9-2846-4E1B-AE46-F91C580B4561}"/>
              </a:ext>
            </a:extLst>
          </p:cNvPr>
          <p:cNvSpPr txBox="1"/>
          <p:nvPr/>
        </p:nvSpPr>
        <p:spPr>
          <a:xfrm>
            <a:off x="3504438" y="612354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0" lvl="4" indent="0">
              <a:spcAft>
                <a:spcPts val="600"/>
              </a:spcAft>
              <a:buNone/>
            </a:pPr>
            <a:r>
              <a:rPr lang="pt-BR"/>
              <a:t>SENAI – 27/07/2021</a:t>
            </a:r>
          </a:p>
        </p:txBody>
      </p:sp>
    </p:spTree>
    <p:extLst>
      <p:ext uri="{BB962C8B-B14F-4D97-AF65-F5344CB8AC3E}">
        <p14:creationId xmlns:p14="http://schemas.microsoft.com/office/powerpoint/2010/main" val="2913312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CB042C5A-D96A-4BBE-9387-92F5F24B0F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B23"/>
          </a:solidFill>
          <a:ln>
            <a:solidFill>
              <a:srgbClr val="1A1B2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E2B8403-0F57-43B2-95AB-B061A00AB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974" y="1740287"/>
            <a:ext cx="5820599" cy="4752792"/>
          </a:xfrm>
          <a:prstGeom prst="rect">
            <a:avLst/>
          </a:prstGeom>
        </p:spPr>
      </p:pic>
      <p:graphicFrame>
        <p:nvGraphicFramePr>
          <p:cNvPr id="10" name="Tabela 10">
            <a:extLst>
              <a:ext uri="{FF2B5EF4-FFF2-40B4-BE49-F238E27FC236}">
                <a16:creationId xmlns:a16="http://schemas.microsoft.com/office/drawing/2014/main" id="{B747D28A-5E6F-477B-9519-969EF23FD8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218011"/>
              </p:ext>
            </p:extLst>
          </p:nvPr>
        </p:nvGraphicFramePr>
        <p:xfrm>
          <a:off x="6096000" y="2170962"/>
          <a:ext cx="5610045" cy="375166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610045">
                  <a:extLst>
                    <a:ext uri="{9D8B030D-6E8A-4147-A177-3AD203B41FA5}">
                      <a16:colId xmlns:a16="http://schemas.microsoft.com/office/drawing/2014/main" val="1800561561"/>
                    </a:ext>
                  </a:extLst>
                </a:gridCol>
              </a:tblGrid>
              <a:tr h="937917">
                <a:tc>
                  <a:txBody>
                    <a:bodyPr/>
                    <a:lstStyle/>
                    <a:p>
                      <a:r>
                        <a:rPr lang="pt-BR" dirty="0"/>
                        <a:t>Estrutura de repetição:</a:t>
                      </a:r>
                    </a:p>
                    <a:p>
                      <a:r>
                        <a:rPr lang="pt-BR" dirty="0">
                          <a:solidFill>
                            <a:srgbClr val="8C4B71"/>
                          </a:solidFill>
                        </a:rPr>
                        <a:t>do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13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957265"/>
                  </a:ext>
                </a:extLst>
              </a:tr>
              <a:tr h="937917">
                <a:tc>
                  <a:txBody>
                    <a:bodyPr/>
                    <a:lstStyle/>
                    <a:p>
                      <a:r>
                        <a:rPr lang="pt-BR" b="1" dirty="0">
                          <a:solidFill>
                            <a:schemeClr val="bg1"/>
                          </a:solidFill>
                        </a:rPr>
                        <a:t>Estrutura de comparação:</a:t>
                      </a:r>
                    </a:p>
                    <a:p>
                      <a:r>
                        <a:rPr lang="pt-BR" b="1" dirty="0" err="1">
                          <a:solidFill>
                            <a:srgbClr val="8C4B71"/>
                          </a:solidFill>
                        </a:rPr>
                        <a:t>If</a:t>
                      </a:r>
                      <a:r>
                        <a:rPr lang="pt-BR" dirty="0"/>
                        <a:t> </a:t>
                      </a:r>
                      <a:r>
                        <a:rPr lang="pt-BR" dirty="0">
                          <a:solidFill>
                            <a:schemeClr val="bg1"/>
                          </a:solidFill>
                        </a:rPr>
                        <a:t>e</a:t>
                      </a:r>
                      <a:r>
                        <a:rPr lang="pt-BR" dirty="0"/>
                        <a:t> </a:t>
                      </a:r>
                      <a:r>
                        <a:rPr lang="pt-BR" b="1" dirty="0">
                          <a:solidFill>
                            <a:srgbClr val="8C4B71"/>
                          </a:solidFill>
                        </a:rPr>
                        <a:t>switch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13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788827"/>
                  </a:ext>
                </a:extLst>
              </a:tr>
              <a:tr h="937917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13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190118"/>
                  </a:ext>
                </a:extLst>
              </a:tr>
              <a:tr h="937917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13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449537"/>
                  </a:ext>
                </a:extLst>
              </a:tr>
            </a:tbl>
          </a:graphicData>
        </a:graphic>
      </p:graphicFrame>
      <p:sp>
        <p:nvSpPr>
          <p:cNvPr id="16" name="Título 15">
            <a:extLst>
              <a:ext uri="{FF2B5EF4-FFF2-40B4-BE49-F238E27FC236}">
                <a16:creationId xmlns:a16="http://schemas.microsoft.com/office/drawing/2014/main" id="{06FCFD96-84DA-4DFB-9B63-CC15F91AD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974" y="377862"/>
            <a:ext cx="10168128" cy="1179576"/>
          </a:xfrm>
        </p:spPr>
        <p:txBody>
          <a:bodyPr/>
          <a:lstStyle/>
          <a:p>
            <a:r>
              <a:rPr lang="pt-BR" b="1" dirty="0">
                <a:solidFill>
                  <a:schemeClr val="bg1"/>
                </a:solidFill>
              </a:rPr>
              <a:t>Menu Principal</a:t>
            </a:r>
          </a:p>
        </p:txBody>
      </p:sp>
    </p:spTree>
    <p:extLst>
      <p:ext uri="{BB962C8B-B14F-4D97-AF65-F5344CB8AC3E}">
        <p14:creationId xmlns:p14="http://schemas.microsoft.com/office/powerpoint/2010/main" val="3094041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CB042C5A-D96A-4BBE-9387-92F5F24B0F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B23"/>
          </a:solidFill>
          <a:ln>
            <a:solidFill>
              <a:srgbClr val="1A1B2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/>
          </a:p>
        </p:txBody>
      </p:sp>
      <p:sp>
        <p:nvSpPr>
          <p:cNvPr id="16" name="Título 15">
            <a:extLst>
              <a:ext uri="{FF2B5EF4-FFF2-40B4-BE49-F238E27FC236}">
                <a16:creationId xmlns:a16="http://schemas.microsoft.com/office/drawing/2014/main" id="{06FCFD96-84DA-4DFB-9B63-CC15F91AD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974" y="377862"/>
            <a:ext cx="10168128" cy="1179576"/>
          </a:xfrm>
        </p:spPr>
        <p:txBody>
          <a:bodyPr/>
          <a:lstStyle/>
          <a:p>
            <a:r>
              <a:rPr lang="pt-BR" b="1" dirty="0">
                <a:solidFill>
                  <a:schemeClr val="bg1"/>
                </a:solidFill>
              </a:rPr>
              <a:t>Procedimento Venda</a:t>
            </a: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1D04ACDB-5B5C-4E2C-8E2D-903CD90DC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974" y="1474773"/>
            <a:ext cx="7544853" cy="3877216"/>
          </a:xfrm>
          <a:prstGeom prst="rect">
            <a:avLst/>
          </a:prstGeom>
        </p:spPr>
      </p:pic>
      <p:graphicFrame>
        <p:nvGraphicFramePr>
          <p:cNvPr id="10" name="Tabela 10">
            <a:extLst>
              <a:ext uri="{FF2B5EF4-FFF2-40B4-BE49-F238E27FC236}">
                <a16:creationId xmlns:a16="http://schemas.microsoft.com/office/drawing/2014/main" id="{B747D28A-5E6F-477B-9519-969EF23FD8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707750"/>
              </p:ext>
            </p:extLst>
          </p:nvPr>
        </p:nvGraphicFramePr>
        <p:xfrm>
          <a:off x="6096000" y="2422631"/>
          <a:ext cx="5610045" cy="375166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610045">
                  <a:extLst>
                    <a:ext uri="{9D8B030D-6E8A-4147-A177-3AD203B41FA5}">
                      <a16:colId xmlns:a16="http://schemas.microsoft.com/office/drawing/2014/main" val="1800561561"/>
                    </a:ext>
                  </a:extLst>
                </a:gridCol>
              </a:tblGrid>
              <a:tr h="937917">
                <a:tc>
                  <a:txBody>
                    <a:bodyPr/>
                    <a:lstStyle/>
                    <a:p>
                      <a:r>
                        <a:rPr lang="pt-BR" b="1" dirty="0">
                          <a:solidFill>
                            <a:schemeClr val="bg1"/>
                          </a:solidFill>
                        </a:rPr>
                        <a:t>Estrutura de comparação:</a:t>
                      </a:r>
                    </a:p>
                    <a:p>
                      <a:r>
                        <a:rPr lang="pt-BR" b="1" dirty="0">
                          <a:solidFill>
                            <a:srgbClr val="8C4B71"/>
                          </a:solidFill>
                        </a:rPr>
                        <a:t>switch</a:t>
                      </a:r>
                    </a:p>
                    <a:p>
                      <a:endParaRPr lang="pt-BR" dirty="0">
                        <a:solidFill>
                          <a:srgbClr val="8C4B7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13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957265"/>
                  </a:ext>
                </a:extLst>
              </a:tr>
              <a:tr h="937917">
                <a:tc>
                  <a:txBody>
                    <a:bodyPr/>
                    <a:lstStyle/>
                    <a:p>
                      <a:r>
                        <a:rPr lang="pt-BR" b="1" dirty="0">
                          <a:solidFill>
                            <a:schemeClr val="bg1"/>
                          </a:solidFill>
                        </a:rPr>
                        <a:t>Procedimento:</a:t>
                      </a:r>
                    </a:p>
                    <a:p>
                      <a:r>
                        <a:rPr lang="pt-BR" b="1" dirty="0">
                          <a:solidFill>
                            <a:srgbClr val="37CA5A"/>
                          </a:solidFill>
                        </a:rPr>
                        <a:t>fazVenda</a:t>
                      </a:r>
                      <a:r>
                        <a:rPr lang="pt-BR" b="1" dirty="0">
                          <a:solidFill>
                            <a:schemeClr val="bg1"/>
                          </a:solidFill>
                        </a:rPr>
                        <a:t>(); </a:t>
                      </a:r>
                      <a:r>
                        <a:rPr lang="pt-BR" b="1" dirty="0">
                          <a:solidFill>
                            <a:srgbClr val="0F1B50"/>
                          </a:solidFill>
                        </a:rPr>
                        <a:t>//loop</a:t>
                      </a:r>
                    </a:p>
                    <a:p>
                      <a:endParaRPr lang="pt-BR" b="1" dirty="0">
                        <a:solidFill>
                          <a:srgbClr val="8C4B7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13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788827"/>
                  </a:ext>
                </a:extLst>
              </a:tr>
              <a:tr h="937917">
                <a:tc>
                  <a:txBody>
                    <a:bodyPr/>
                    <a:lstStyle/>
                    <a:p>
                      <a:endParaRPr lang="pt-BR" b="1" dirty="0">
                        <a:solidFill>
                          <a:srgbClr val="0F1B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13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190118"/>
                  </a:ext>
                </a:extLst>
              </a:tr>
              <a:tr h="937917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13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449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2208053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DarkSeedLeftStep">
      <a:dk1>
        <a:srgbClr val="000000"/>
      </a:dk1>
      <a:lt1>
        <a:srgbClr val="FFFFFF"/>
      </a:lt1>
      <a:dk2>
        <a:srgbClr val="30271B"/>
      </a:dk2>
      <a:lt2>
        <a:srgbClr val="F0F1F3"/>
      </a:lt2>
      <a:accent1>
        <a:srgbClr val="AFA145"/>
      </a:accent1>
      <a:accent2>
        <a:srgbClr val="B1713B"/>
      </a:accent2>
      <a:accent3>
        <a:srgbClr val="C3514D"/>
      </a:accent3>
      <a:accent4>
        <a:srgbClr val="B13B68"/>
      </a:accent4>
      <a:accent5>
        <a:srgbClr val="C34DAB"/>
      </a:accent5>
      <a:accent6>
        <a:srgbClr val="983BB1"/>
      </a:accent6>
      <a:hlink>
        <a:srgbClr val="C04391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114</TotalTime>
  <Words>45</Words>
  <Application>Microsoft Office PowerPoint</Application>
  <PresentationFormat>Widescreen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Arial</vt:lpstr>
      <vt:lpstr>Avenir Next LT Pro</vt:lpstr>
      <vt:lpstr>Calibri</vt:lpstr>
      <vt:lpstr>AccentBoxVTI</vt:lpstr>
      <vt:lpstr>Apresentação do PowerPoint</vt:lpstr>
      <vt:lpstr>Menu Principal</vt:lpstr>
      <vt:lpstr>Procedimento Venda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Alexson Felipe</dc:creator>
  <cp:lastModifiedBy>Alexson Felipe</cp:lastModifiedBy>
  <cp:revision>1</cp:revision>
  <dcterms:created xsi:type="dcterms:W3CDTF">2021-07-27T14:51:10Z</dcterms:created>
  <dcterms:modified xsi:type="dcterms:W3CDTF">2021-07-27T16:45:50Z</dcterms:modified>
</cp:coreProperties>
</file>