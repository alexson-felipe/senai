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E0D9"/>
    <a:srgbClr val="37CA5A"/>
    <a:srgbClr val="8C4B71"/>
    <a:srgbClr val="282A36"/>
    <a:srgbClr val="313343"/>
    <a:srgbClr val="0F1B50"/>
    <a:srgbClr val="1A1D29"/>
    <a:srgbClr val="1A1B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7/27/2021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83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74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9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5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2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35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7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7/27/2021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3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72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3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73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1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37" r:id="rId6"/>
    <p:sldLayoutId id="2147483733" r:id="rId7"/>
    <p:sldLayoutId id="2147483734" r:id="rId8"/>
    <p:sldLayoutId id="2147483735" r:id="rId9"/>
    <p:sldLayoutId id="2147483736" r:id="rId10"/>
    <p:sldLayoutId id="214748373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B042C5A-D96A-4BBE-9387-92F5F24B0F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B23"/>
          </a:solidFill>
          <a:ln>
            <a:solidFill>
              <a:srgbClr val="1A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265386" y="1573694"/>
            <a:ext cx="1166122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sz="2800" dirty="0">
                <a:solidFill>
                  <a:srgbClr val="FF79C6"/>
                </a:solidFill>
                <a:latin typeface="Consolas" panose="020B0609020204030204" pitchFamily="49" charset="0"/>
              </a:rPr>
              <a:t>public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FF79C6"/>
                </a:solidFill>
                <a:latin typeface="Consolas" panose="020B0609020204030204" pitchFamily="49" charset="0"/>
              </a:rPr>
              <a:t>class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SistemaDelivery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{</a:t>
            </a:r>
          </a:p>
          <a:p>
            <a:endParaRPr lang="pt-BR" sz="2800" dirty="0">
              <a:latin typeface="Consolas" panose="020B0609020204030204" pitchFamily="49" charset="0"/>
            </a:endParaRPr>
          </a:p>
          <a:p>
            <a:r>
              <a:rPr lang="pt-BR" sz="2800" dirty="0">
                <a:solidFill>
                  <a:srgbClr val="FF79C6"/>
                </a:solidFill>
                <a:latin typeface="Consolas" panose="020B0609020204030204" pitchFamily="49" charset="0"/>
              </a:rPr>
              <a:t>static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String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Prof 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=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F1FA8C"/>
                </a:solidFill>
                <a:latin typeface="Consolas" panose="020B0609020204030204" pitchFamily="49" charset="0"/>
              </a:rPr>
              <a:t>"Guilherme Minatto"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800" dirty="0">
                <a:solidFill>
                  <a:srgbClr val="FF79C6"/>
                </a:solidFill>
                <a:latin typeface="Consolas" panose="020B0609020204030204" pitchFamily="49" charset="0"/>
              </a:rPr>
              <a:t>static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String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Disciplina 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=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F1FA8C"/>
                </a:solidFill>
                <a:latin typeface="Consolas" panose="020B0609020204030204" pitchFamily="49" charset="0"/>
              </a:rPr>
              <a:t>"Lógica da Programação"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;</a:t>
            </a:r>
          </a:p>
          <a:p>
            <a:endParaRPr lang="pt-BR" sz="2800" dirty="0">
              <a:latin typeface="Consolas" panose="020B0609020204030204" pitchFamily="49" charset="0"/>
            </a:endParaRPr>
          </a:p>
          <a:p>
            <a:r>
              <a:rPr lang="pt-BR" sz="2800" dirty="0">
                <a:solidFill>
                  <a:srgbClr val="FF79C6"/>
                </a:solidFill>
                <a:latin typeface="Consolas" panose="020B0609020204030204" pitchFamily="49" charset="0"/>
              </a:rPr>
              <a:t>static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String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Alunos 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=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F1FA8C"/>
                </a:solidFill>
                <a:latin typeface="Consolas" panose="020B0609020204030204" pitchFamily="49" charset="0"/>
              </a:rPr>
              <a:t>"Alexandre, Alexson, Ana Carolina"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800" dirty="0">
                <a:solidFill>
                  <a:srgbClr val="FF79C6"/>
                </a:solidFill>
                <a:latin typeface="Consolas" panose="020B0609020204030204" pitchFamily="49" charset="0"/>
              </a:rPr>
              <a:t>static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String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Data 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=</a:t>
            </a:r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F1FA8C"/>
                </a:solidFill>
                <a:latin typeface="Consolas" panose="020B0609020204030204" pitchFamily="49" charset="0"/>
              </a:rPr>
              <a:t>"28/07/2021"</a:t>
            </a:r>
            <a:r>
              <a:rPr lang="pt-BR" sz="2800" dirty="0">
                <a:solidFill>
                  <a:srgbClr val="8BE9FD"/>
                </a:solidFill>
                <a:latin typeface="Consolas" panose="020B0609020204030204" pitchFamily="49" charset="0"/>
              </a:rPr>
              <a:t>;</a:t>
            </a:r>
          </a:p>
          <a:p>
            <a:endParaRPr lang="pt-BR" sz="2800" dirty="0">
              <a:latin typeface="Consolas" panose="020B0609020204030204" pitchFamily="49" charset="0"/>
            </a:endParaRPr>
          </a:p>
          <a:p>
            <a:r>
              <a:rPr lang="pt-BR" sz="2800" dirty="0">
                <a:solidFill>
                  <a:srgbClr val="F8F8F2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331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CB042C5A-D96A-4BBE-9387-92F5F24B0F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B23"/>
          </a:solidFill>
          <a:ln>
            <a:solidFill>
              <a:srgbClr val="1A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B747D28A-5E6F-477B-9519-969EF23FD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614555"/>
              </p:ext>
            </p:extLst>
          </p:nvPr>
        </p:nvGraphicFramePr>
        <p:xfrm>
          <a:off x="5986623" y="1323244"/>
          <a:ext cx="5610045" cy="18758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10045">
                  <a:extLst>
                    <a:ext uri="{9D8B030D-6E8A-4147-A177-3AD203B41FA5}">
                      <a16:colId xmlns:a16="http://schemas.microsoft.com/office/drawing/2014/main" val="1800561561"/>
                    </a:ext>
                  </a:extLst>
                </a:gridCol>
              </a:tblGrid>
              <a:tr h="937917">
                <a:tc>
                  <a:txBody>
                    <a:bodyPr/>
                    <a:lstStyle/>
                    <a:p>
                      <a:r>
                        <a:rPr lang="pt-BR" dirty="0"/>
                        <a:t>Estrutura de repetição:</a:t>
                      </a:r>
                    </a:p>
                    <a:p>
                      <a:r>
                        <a:rPr lang="pt-BR" dirty="0">
                          <a:solidFill>
                            <a:srgbClr val="8C4B71"/>
                          </a:solidFill>
                        </a:rPr>
                        <a:t>do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957265"/>
                  </a:ext>
                </a:extLst>
              </a:tr>
              <a:tr h="937917">
                <a:tc>
                  <a:txBody>
                    <a:bodyPr/>
                    <a:lstStyle/>
                    <a:p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Estrutura de comparação:</a:t>
                      </a:r>
                    </a:p>
                    <a:p>
                      <a:r>
                        <a:rPr lang="pt-BR" b="1" dirty="0" smtClean="0">
                          <a:solidFill>
                            <a:srgbClr val="8C4B71"/>
                          </a:solidFill>
                        </a:rPr>
                        <a:t>If</a:t>
                      </a:r>
                      <a:r>
                        <a:rPr lang="pt-BR" dirty="0" smtClean="0"/>
                        <a:t> </a:t>
                      </a:r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e</a:t>
                      </a:r>
                      <a:r>
                        <a:rPr lang="pt-BR" dirty="0"/>
                        <a:t> </a:t>
                      </a:r>
                      <a:r>
                        <a:rPr lang="pt-BR" b="1" dirty="0">
                          <a:solidFill>
                            <a:srgbClr val="8C4B71"/>
                          </a:solidFill>
                        </a:rPr>
                        <a:t>switch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788827"/>
                  </a:ext>
                </a:extLst>
              </a:tr>
            </a:tbl>
          </a:graphicData>
        </a:graphic>
      </p:graphicFrame>
      <p:sp>
        <p:nvSpPr>
          <p:cNvPr id="16" name="Título 15">
            <a:extLst>
              <a:ext uri="{FF2B5EF4-FFF2-40B4-BE49-F238E27FC236}">
                <a16:creationId xmlns:a16="http://schemas.microsoft.com/office/drawing/2014/main" id="{06FCFD96-84DA-4DFB-9B63-CC15F91A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32" y="338252"/>
            <a:ext cx="10168128" cy="1179576"/>
          </a:xfrm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Menu </a:t>
            </a:r>
            <a:r>
              <a:rPr lang="pt-BR" b="1" dirty="0" smtClean="0">
                <a:solidFill>
                  <a:schemeClr val="bg1"/>
                </a:solidFill>
              </a:rPr>
              <a:t>Principal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8" y="1306269"/>
            <a:ext cx="5233467" cy="514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04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CB042C5A-D96A-4BBE-9387-92F5F24B0F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B23"/>
          </a:solidFill>
          <a:ln>
            <a:solidFill>
              <a:srgbClr val="1A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16" name="Título 15">
            <a:extLst>
              <a:ext uri="{FF2B5EF4-FFF2-40B4-BE49-F238E27FC236}">
                <a16:creationId xmlns:a16="http://schemas.microsoft.com/office/drawing/2014/main" id="{06FCFD96-84DA-4DFB-9B63-CC15F91A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74" y="377862"/>
            <a:ext cx="10168128" cy="1179576"/>
          </a:xfrm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Procedimento </a:t>
            </a:r>
            <a:r>
              <a:rPr lang="pt-BR" b="1" dirty="0" smtClean="0">
                <a:solidFill>
                  <a:schemeClr val="bg1"/>
                </a:solidFill>
              </a:rPr>
              <a:t>Produto </a:t>
            </a:r>
            <a:r>
              <a:rPr lang="pt-BR" b="1" dirty="0" smtClean="0">
                <a:solidFill>
                  <a:srgbClr val="37CA5A"/>
                </a:solidFill>
              </a:rPr>
              <a:t>fazProduto</a:t>
            </a:r>
            <a:r>
              <a:rPr lang="pt-BR" b="1" dirty="0" smtClean="0">
                <a:solidFill>
                  <a:schemeClr val="bg1"/>
                </a:solidFill>
              </a:rPr>
              <a:t>();</a:t>
            </a:r>
            <a:endParaRPr lang="pt-BR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B747D28A-5E6F-477B-9519-969EF23FD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296122"/>
              </p:ext>
            </p:extLst>
          </p:nvPr>
        </p:nvGraphicFramePr>
        <p:xfrm>
          <a:off x="8225337" y="1451988"/>
          <a:ext cx="3525229" cy="40325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25229">
                  <a:extLst>
                    <a:ext uri="{9D8B030D-6E8A-4147-A177-3AD203B41FA5}">
                      <a16:colId xmlns:a16="http://schemas.microsoft.com/office/drawing/2014/main" val="1800561561"/>
                    </a:ext>
                  </a:extLst>
                </a:gridCol>
              </a:tblGrid>
              <a:tr h="2016266">
                <a:tc>
                  <a:txBody>
                    <a:bodyPr/>
                    <a:lstStyle/>
                    <a:p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Estrutura de comparação:</a:t>
                      </a:r>
                    </a:p>
                    <a:p>
                      <a:r>
                        <a:rPr lang="pt-BR" b="1" dirty="0" smtClean="0">
                          <a:solidFill>
                            <a:srgbClr val="8C4B71"/>
                          </a:solidFill>
                        </a:rPr>
                        <a:t>switch</a:t>
                      </a:r>
                    </a:p>
                    <a:p>
                      <a:endParaRPr lang="pt-BR" dirty="0">
                        <a:solidFill>
                          <a:srgbClr val="8C4B7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957265"/>
                  </a:ext>
                </a:extLst>
              </a:tr>
              <a:tr h="2016266">
                <a:tc>
                  <a:txBody>
                    <a:bodyPr/>
                    <a:lstStyle/>
                    <a:p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Função: </a:t>
                      </a:r>
                    </a:p>
                    <a:p>
                      <a:r>
                        <a:rPr lang="pt-BR" b="1" dirty="0" smtClean="0">
                          <a:solidFill>
                            <a:srgbClr val="37CA5A"/>
                          </a:solidFill>
                        </a:rPr>
                        <a:t>.split</a:t>
                      </a:r>
                    </a:p>
                    <a:p>
                      <a:endParaRPr lang="pt-BR" b="1" dirty="0">
                        <a:solidFill>
                          <a:srgbClr val="8C4B7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788827"/>
                  </a:ext>
                </a:extLst>
              </a:tr>
            </a:tbl>
          </a:graphicData>
        </a:graphic>
      </p:graphicFrame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71" y="1451988"/>
            <a:ext cx="7518530" cy="403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0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CB042C5A-D96A-4BBE-9387-92F5F24B0F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B23"/>
          </a:solidFill>
          <a:ln>
            <a:solidFill>
              <a:srgbClr val="1A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16" name="Título 15">
            <a:extLst>
              <a:ext uri="{FF2B5EF4-FFF2-40B4-BE49-F238E27FC236}">
                <a16:creationId xmlns:a16="http://schemas.microsoft.com/office/drawing/2014/main" id="{06FCFD96-84DA-4DFB-9B63-CC15F91A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81" y="31740"/>
            <a:ext cx="10168128" cy="1179576"/>
          </a:xfrm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Procedimento </a:t>
            </a:r>
            <a:r>
              <a:rPr lang="pt-BR" b="1" dirty="0" smtClean="0">
                <a:solidFill>
                  <a:schemeClr val="bg1"/>
                </a:solidFill>
              </a:rPr>
              <a:t>Venda </a:t>
            </a:r>
            <a:r>
              <a:rPr lang="pt-BR" b="1" dirty="0" smtClean="0">
                <a:solidFill>
                  <a:srgbClr val="37CA5A"/>
                </a:solidFill>
              </a:rPr>
              <a:t>criadorDeCliente</a:t>
            </a:r>
            <a:r>
              <a:rPr lang="pt-BR" b="1" dirty="0" smtClean="0">
                <a:solidFill>
                  <a:schemeClr val="bg1"/>
                </a:solidFill>
              </a:rPr>
              <a:t>();</a:t>
            </a:r>
            <a:endParaRPr lang="pt-BR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B747D28A-5E6F-477B-9519-969EF23FD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07325"/>
              </p:ext>
            </p:extLst>
          </p:nvPr>
        </p:nvGraphicFramePr>
        <p:xfrm>
          <a:off x="7946906" y="1095914"/>
          <a:ext cx="3782639" cy="28137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82639">
                  <a:extLst>
                    <a:ext uri="{9D8B030D-6E8A-4147-A177-3AD203B41FA5}">
                      <a16:colId xmlns:a16="http://schemas.microsoft.com/office/drawing/2014/main" val="1800561561"/>
                    </a:ext>
                  </a:extLst>
                </a:gridCol>
              </a:tblGrid>
              <a:tr h="937917">
                <a:tc>
                  <a:txBody>
                    <a:bodyPr/>
                    <a:lstStyle/>
                    <a:p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Estrutura de repetição:</a:t>
                      </a:r>
                    </a:p>
                    <a:p>
                      <a:r>
                        <a:rPr lang="pt-BR" b="1" dirty="0" smtClean="0">
                          <a:solidFill>
                            <a:srgbClr val="8C4B71"/>
                          </a:solidFill>
                        </a:rPr>
                        <a:t>do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957265"/>
                  </a:ext>
                </a:extLst>
              </a:tr>
              <a:tr h="937917">
                <a:tc>
                  <a:txBody>
                    <a:bodyPr/>
                    <a:lstStyle/>
                    <a:p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Estrutura de comparação:</a:t>
                      </a:r>
                    </a:p>
                    <a:p>
                      <a:r>
                        <a:rPr lang="pt-BR" b="1" dirty="0" smtClean="0">
                          <a:solidFill>
                            <a:srgbClr val="8C4B71"/>
                          </a:solidFill>
                        </a:rPr>
                        <a:t>if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436706"/>
                  </a:ext>
                </a:extLst>
              </a:tr>
              <a:tr h="937917">
                <a:tc>
                  <a:txBody>
                    <a:bodyPr/>
                    <a:lstStyle/>
                    <a:p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Função: </a:t>
                      </a:r>
                    </a:p>
                    <a:p>
                      <a:r>
                        <a:rPr lang="pt-BR" b="1" dirty="0" smtClean="0">
                          <a:solidFill>
                            <a:srgbClr val="6CE0D9"/>
                          </a:solidFill>
                        </a:rPr>
                        <a:t>Integer.</a:t>
                      </a:r>
                      <a:r>
                        <a:rPr lang="pt-BR" b="1" dirty="0" smtClean="0">
                          <a:solidFill>
                            <a:srgbClr val="37CA5A"/>
                          </a:solidFill>
                        </a:rPr>
                        <a:t>toString</a:t>
                      </a:r>
                    </a:p>
                    <a:p>
                      <a:endParaRPr lang="pt-BR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816290"/>
                  </a:ext>
                </a:extLst>
              </a:tr>
            </a:tbl>
          </a:graphicData>
        </a:graphic>
      </p:graphicFrame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21" y="1095914"/>
            <a:ext cx="7268589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9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CB042C5A-D96A-4BBE-9387-92F5F24B0F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B23"/>
          </a:solidFill>
          <a:ln>
            <a:solidFill>
              <a:srgbClr val="1A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16" name="Título 15">
            <a:extLst>
              <a:ext uri="{FF2B5EF4-FFF2-40B4-BE49-F238E27FC236}">
                <a16:creationId xmlns:a16="http://schemas.microsoft.com/office/drawing/2014/main" id="{06FCFD96-84DA-4DFB-9B63-CC15F91A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81" y="31740"/>
            <a:ext cx="10168128" cy="1179576"/>
          </a:xfrm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Procedimento Venda </a:t>
            </a:r>
            <a:r>
              <a:rPr lang="pt-BR" b="1" dirty="0">
                <a:solidFill>
                  <a:srgbClr val="37CA5A"/>
                </a:solidFill>
              </a:rPr>
              <a:t>criaVenda</a:t>
            </a:r>
            <a:r>
              <a:rPr lang="pt-BR" b="1" dirty="0">
                <a:solidFill>
                  <a:schemeClr val="bg1"/>
                </a:solidFill>
              </a:rPr>
              <a:t>();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B747D28A-5E6F-477B-9519-969EF23FD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096036"/>
              </p:ext>
            </p:extLst>
          </p:nvPr>
        </p:nvGraphicFramePr>
        <p:xfrm>
          <a:off x="6096000" y="1095914"/>
          <a:ext cx="5610045" cy="266934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10045">
                  <a:extLst>
                    <a:ext uri="{9D8B030D-6E8A-4147-A177-3AD203B41FA5}">
                      <a16:colId xmlns:a16="http://schemas.microsoft.com/office/drawing/2014/main" val="1800561561"/>
                    </a:ext>
                  </a:extLst>
                </a:gridCol>
              </a:tblGrid>
              <a:tr h="927468">
                <a:tc>
                  <a:txBody>
                    <a:bodyPr/>
                    <a:lstStyle/>
                    <a:p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Estrutura de repetição:</a:t>
                      </a:r>
                    </a:p>
                    <a:p>
                      <a:r>
                        <a:rPr lang="pt-BR" b="1" dirty="0" smtClean="0">
                          <a:solidFill>
                            <a:srgbClr val="8C4B71"/>
                          </a:solidFill>
                        </a:rPr>
                        <a:t>do </a:t>
                      </a:r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e</a:t>
                      </a:r>
                      <a:r>
                        <a:rPr lang="pt-BR" b="1" baseline="0" dirty="0" smtClean="0">
                          <a:solidFill>
                            <a:srgbClr val="8C4B71"/>
                          </a:solidFill>
                        </a:rPr>
                        <a:t> for</a:t>
                      </a:r>
                      <a:endParaRPr lang="pt-BR" b="1" dirty="0" smtClean="0">
                        <a:solidFill>
                          <a:srgbClr val="8C4B7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957265"/>
                  </a:ext>
                </a:extLst>
              </a:tr>
              <a:tr h="814411">
                <a:tc>
                  <a:txBody>
                    <a:bodyPr/>
                    <a:lstStyle/>
                    <a:p>
                      <a:r>
                        <a:rPr lang="pt-BR" b="1" dirty="0" smtClean="0">
                          <a:solidFill>
                            <a:schemeClr val="bg1"/>
                          </a:solidFill>
                        </a:rPr>
                        <a:t>Estrutura de comparação:</a:t>
                      </a:r>
                    </a:p>
                    <a:p>
                      <a:r>
                        <a:rPr lang="pt-BR" b="1" dirty="0" smtClean="0">
                          <a:solidFill>
                            <a:srgbClr val="8C4B71"/>
                          </a:solidFill>
                        </a:rPr>
                        <a:t>if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436706"/>
                  </a:ext>
                </a:extLst>
              </a:tr>
              <a:tr h="927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Função: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37CA5A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.split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816290"/>
                  </a:ext>
                </a:extLst>
              </a:tr>
            </a:tbl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84" y="1095914"/>
            <a:ext cx="5212261" cy="543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404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LeftStep">
      <a:dk1>
        <a:srgbClr val="000000"/>
      </a:dk1>
      <a:lt1>
        <a:srgbClr val="FFFFFF"/>
      </a:lt1>
      <a:dk2>
        <a:srgbClr val="30271B"/>
      </a:dk2>
      <a:lt2>
        <a:srgbClr val="F0F1F3"/>
      </a:lt2>
      <a:accent1>
        <a:srgbClr val="AFA145"/>
      </a:accent1>
      <a:accent2>
        <a:srgbClr val="B1713B"/>
      </a:accent2>
      <a:accent3>
        <a:srgbClr val="C3514D"/>
      </a:accent3>
      <a:accent4>
        <a:srgbClr val="B13B68"/>
      </a:accent4>
      <a:accent5>
        <a:srgbClr val="C34DAB"/>
      </a:accent5>
      <a:accent6>
        <a:srgbClr val="983BB1"/>
      </a:accent6>
      <a:hlink>
        <a:srgbClr val="C04391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301</TotalTime>
  <Words>105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Avenir Next LT Pro</vt:lpstr>
      <vt:lpstr>Calibri</vt:lpstr>
      <vt:lpstr>Consolas</vt:lpstr>
      <vt:lpstr>AccentBoxVTI</vt:lpstr>
      <vt:lpstr>Apresentação do PowerPoint</vt:lpstr>
      <vt:lpstr>Menu Principal</vt:lpstr>
      <vt:lpstr>Procedimento Produto fazProduto();</vt:lpstr>
      <vt:lpstr>Procedimento Venda criadorDeCliente();</vt:lpstr>
      <vt:lpstr>Procedimento Venda criaVenda();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Alexson Felipe</dc:creator>
  <cp:lastModifiedBy>Aluno</cp:lastModifiedBy>
  <cp:revision>11</cp:revision>
  <dcterms:created xsi:type="dcterms:W3CDTF">2021-07-27T14:51:10Z</dcterms:created>
  <dcterms:modified xsi:type="dcterms:W3CDTF">2021-07-28T01:29:01Z</dcterms:modified>
</cp:coreProperties>
</file>